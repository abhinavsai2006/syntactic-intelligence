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73152" cy="2926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920240"/>
            <a:ext cx="100584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64748B"/>
                </a:solidFill>
                <a:latin typeface="Arial"/>
              </a:defRPr>
            </a:pPr>
            <a:r>
              <a:t>P R O M P T   E N G I N E E R I N G   C A S E   S T U D Y</a:t>
            </a:r>
          </a:p>
          <a:p>
            <a:pPr>
              <a:spcAft>
                <a:spcPts val="800"/>
              </a:spcAft>
              <a:defRPr sz="5600" b="1">
                <a:solidFill>
                  <a:srgbClr val="FFFFFF"/>
                </a:solidFill>
                <a:latin typeface="Trebuchet MS"/>
              </a:defRPr>
            </a:pPr>
            <a:r>
              <a:t>Syntactic Intelligence</a:t>
            </a:r>
          </a:p>
          <a:p>
            <a:pPr>
              <a:spcAft>
                <a:spcPts val="3600"/>
              </a:spcAft>
              <a:defRPr sz="2000">
                <a:solidFill>
                  <a:srgbClr val="E2E8F0"/>
                </a:solidFill>
                <a:latin typeface="Arial"/>
              </a:defRPr>
            </a:pPr>
            <a:r>
              <a:t>Engineering Prompt Variations to Drive Multi-Functional AI Behaviors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System: Flask Framework | Core LLM: Llama-3.1-8B NIM API | Design: Flat Corporate Minimalist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Arial"/>
              </a:defRPr>
            </a:pPr>
            <a:r>
              <a:t>01.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Trebuchet MS"/>
              </a:defRPr>
            </a:pPr>
            <a:r>
              <a:t>Overview &amp; Prompt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12064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51206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Trebuchet MS"/>
              </a:defRPr>
            </a:pPr>
            <a:r>
              <a:t>Educational Focus</a:t>
            </a:r>
          </a:p>
          <a:p>
            <a:pPr>
              <a:lnSpc>
                <a:spcPct val="130000"/>
              </a:lnSpc>
              <a:spcAft>
                <a:spcPts val="1400"/>
              </a:spcAft>
              <a:defRPr sz="1500">
                <a:solidFill>
                  <a:srgbClr val="0F172A"/>
                </a:solidFill>
                <a:latin typeface="Calibri"/>
              </a:defRPr>
            </a:pPr>
            <a:r>
              <a:t>This project aims to enhance students' capabilities to formulate systemic prompts that inspire structured thinking, logical evaluation, and entrepreneurial creativity.</a:t>
            </a:r>
          </a:p>
          <a:p>
            <a:pPr>
              <a:lnSpc>
                <a:spcPct val="130000"/>
              </a:lnSpc>
              <a:defRPr sz="1500">
                <a:solidFill>
                  <a:srgbClr val="0F172A"/>
                </a:solidFill>
                <a:latin typeface="Calibri"/>
              </a:defRPr>
            </a:pPr>
            <a:r>
              <a:t>By comparing response outputs side-by-side, developers learn to design constraints (length, specificity, output format) that yield optimal business and creative utility.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737360"/>
            <a:ext cx="512064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737360"/>
            <a:ext cx="5120640" cy="7315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1168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Trebuchet MS"/>
              </a:defRPr>
            </a:pPr>
            <a:r>
              <a:t>Expected Outcomes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A collection of highly structured prompt variations that yield unique, actionable AI outputs.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Demonstrated understanding of tone, complexity, and format control through system instructions.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An active feedback loop that stores and logs rating statistics to drive systematic prompt optimization.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A highly intuitive, developer-centric single page web workspace.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Arial"/>
              </a:defRPr>
            </a:pPr>
            <a:r>
              <a:t>02.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Trebuchet MS"/>
              </a:defRPr>
            </a:pPr>
            <a:r>
              <a:t>System Architecture &amp; Execution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38328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F46E5"/>
                </a:solidFill>
                <a:latin typeface="Trebuchet M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Backend Flow</a:t>
            </a:r>
          </a:p>
          <a:p>
            <a:pPr>
              <a:spcAft>
                <a:spcPts val="1200"/>
              </a:spcAft>
              <a:defRPr sz="1100" b="1">
                <a:solidFill>
                  <a:srgbClr val="64748B"/>
                </a:solidFill>
                <a:latin typeface="Arial"/>
              </a:defRPr>
            </a:pPr>
            <a:r>
              <a:t>FLASK CORE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Handles endpoint routing securely.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Assembles dynamic prompt messages.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Pipeline endpoints: /, /generate, /feedback.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737360"/>
            <a:ext cx="338328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E7490"/>
                </a:solidFill>
                <a:latin typeface="Trebuchet M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AI Model Pipeline</a:t>
            </a:r>
          </a:p>
          <a:p>
            <a:pPr>
              <a:spcAft>
                <a:spcPts val="1200"/>
              </a:spcAft>
              <a:defRPr sz="1100" b="1">
                <a:solidFill>
                  <a:srgbClr val="64748B"/>
                </a:solidFill>
                <a:latin typeface="Arial"/>
              </a:defRPr>
            </a:pPr>
            <a:r>
              <a:t>NVIDIA NIM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Model: Llama-3.1-8B-Instruct.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Maintains 9 separate configurations.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Requests-based chat completion endpoint.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737360"/>
            <a:ext cx="338328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Trebuchet MS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65176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Data Metrics</a:t>
            </a:r>
          </a:p>
          <a:p>
            <a:pPr>
              <a:spcAft>
                <a:spcPts val="1200"/>
              </a:spcAft>
              <a:defRPr sz="1100" b="1">
                <a:solidFill>
                  <a:srgbClr val="64748B"/>
                </a:solidFill>
                <a:latin typeface="Arial"/>
              </a:defRPr>
            </a:pPr>
            <a:r>
              <a:t>CSV DATABASE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Records logs in feedback_log.csv.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Thread-locked structure to ensure safety.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Dashboard: aggregates analytics at runtime.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Arial"/>
              </a:defRPr>
            </a:pPr>
            <a:r>
              <a:t>03.A FUNCTION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Trebuchet MS"/>
              </a:defRPr>
            </a:pPr>
            <a:r>
              <a:t>1. Function: Answer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69848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64748B"/>
                </a:solidFill>
                <a:latin typeface="Arial"/>
              </a:defRPr>
            </a:pPr>
            <a:r>
              <a:t>SYSTEM ROLE &amp; CONTEXT: You are a knowledgeable AI assistant specialized in answering questions accurately. Provide clear, well-structured answers.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Provides specialized guidance to Llama-3.1 before formatting the user queries.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338328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338328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Short Factual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TEMPLATE</a:t>
            </a:r>
          </a:p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"Answer briefly and factually: {input}"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STRATEGY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Restricts response length. Eliminates preambles, focusing solely on core, direct facts.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651760"/>
            <a:ext cx="338328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651760"/>
            <a:ext cx="338328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Detailed Explainer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TEMPLATE</a:t>
            </a:r>
          </a:p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"Explain in detail with context and examples: {input}"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STRATEGY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Instructs Llama-3.1 to generate fully fleshed-out contextual write-ups with use cases.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651760"/>
            <a:ext cx="338328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38328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83464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Bullet-Point Facts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TEMPLATE</a:t>
            </a:r>
          </a:p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"Give me 3 concise facts about: {input}"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STRATEGY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Strict structural layout constraint. Limits the output to exactly 3 high-contrast facts.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Arial"/>
              </a:defRPr>
            </a:pPr>
            <a:r>
              <a:t>03.A RESPONSE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Trebuchet MS"/>
              </a:defRPr>
            </a:pPr>
            <a:r>
              <a:t>Q&amp;A System Response Interface Mockup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a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342851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645920"/>
            <a:ext cx="42062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840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Trebuchet MS"/>
              </a:defRPr>
            </a:pPr>
            <a:r>
              <a:t>Interface Details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Query Input: User asks 'what is ai' under the Answer Questions workspace.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Prompt Style: 'Bullet-Point Facts' dropdown is selected.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AI Output: Llama-3.1 renders 3 concise facts structured under sub-headers.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Interactive Action: Copy clipboard and helpful feedback controls log seamlessly.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Arial"/>
              </a:defRPr>
            </a:pPr>
            <a:r>
              <a:t>03.B FUNCTION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Trebuchet MS"/>
              </a:defRPr>
            </a:pPr>
            <a:r>
              <a:t>2. Function: Summarize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69848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64748B"/>
                </a:solidFill>
                <a:latin typeface="Arial"/>
              </a:defRPr>
            </a:pPr>
            <a:r>
              <a:t>SYSTEM ROLE &amp; CONTEXT: You are an expert text summarizer. Distill the provided content into its most essential points while preserving key meaning.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Provides specialized guidance to Llama-3.1 before formatting the user queries.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338328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338328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One-Paragraph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TEMPLATE</a:t>
            </a:r>
          </a:p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"Summarize the following text in one paragraph: {input}"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STRATEGY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Aggregates lengthy passages into a single cohesive synthesis block, optimized for quick scanning.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651760"/>
            <a:ext cx="338328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651760"/>
            <a:ext cx="338328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Key Points List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TEMPLATE</a:t>
            </a:r>
          </a:p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"Extract the main points of this text as a bulleted list: {input}"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STRATEGY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Structures key topics as clear bullet lists, improving legibility of dense reports.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651760"/>
            <a:ext cx="338328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38328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83464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Executive Brief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TEMPLATE</a:t>
            </a:r>
          </a:p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"Provide a brief executive overview (2-3 sentences) of this document: {input}"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STRATEGY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Generates hyper-condensed high-level summaries for fast management assessments.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Arial"/>
              </a:defRPr>
            </a:pPr>
            <a:r>
              <a:t>03.C FUNCTION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Trebuchet MS"/>
              </a:defRPr>
            </a:pPr>
            <a:r>
              <a:t>3. Function: Generate Creative Content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69848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64748B"/>
                </a:solidFill>
                <a:latin typeface="Arial"/>
              </a:defRPr>
            </a:pPr>
            <a:r>
              <a:t>SYSTEM ROLE &amp; CONTEXT: You are a creative writing assistant with a flair for vivid imagery and engaging narratives. Produce original, compelling content.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Provides specialized guidance to Llama-3.1 before formatting the user queries.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338328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338328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Short Story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TEMPLATE</a:t>
            </a:r>
          </a:p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"Write a short story (under 300 words) about: {input}"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STRATEGY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Tests narrative development capabilities while enforcing a strict parameter length constraint.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651760"/>
            <a:ext cx="338328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651760"/>
            <a:ext cx="338328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Poem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TEMPLATE</a:t>
            </a:r>
          </a:p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"Write a poem in a creative tone about: {input}"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STRATEGY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Directs the AI model to express metaphors, rhythm, and artistic structures for creative tasks.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651760"/>
            <a:ext cx="338328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38328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83464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Trebuchet MS"/>
              </a:defRPr>
            </a:pPr>
            <a:r>
              <a:t>Idea Generator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TEMPLATE</a:t>
            </a:r>
          </a:p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"Generate 3 creative concept ideas for a story/essay about: {input}"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PROMPT STRATEGY</a:t>
            </a:r>
          </a:p>
          <a:p>
            <a:pPr>
              <a:defRPr sz="1300">
                <a:solidFill>
                  <a:srgbClr val="0F172A"/>
                </a:solidFill>
                <a:latin typeface="Calibri"/>
              </a:defRPr>
            </a:pPr>
            <a:r>
              <a:t>Enables ideation brainstorming, producing three unique business/creative outlines.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Arial"/>
              </a:defRPr>
            </a:pPr>
            <a:r>
              <a:t>04.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Trebuchet MS"/>
              </a:defRPr>
            </a:pPr>
            <a:r>
              <a:t>Feedback Loop &amp; Analytics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12064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51206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Trebuchet MS"/>
              </a:defRPr>
            </a:pPr>
            <a:r>
              <a:t>Interactive Feedback Mechanism</a:t>
            </a:r>
          </a:p>
          <a:p>
            <a:pPr>
              <a:spcAft>
                <a:spcPts val="12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Inline Rating: 👍 Helpful / 👎 Not Helpful buttons appear dynamically immediately beneath each generated response block.</a:t>
            </a:r>
          </a:p>
          <a:p>
            <a:pPr>
              <a:spcAft>
                <a:spcPts val="12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Asynchronous AJAX: Submit ratings immediately without page reloading to maximize user convenience.</a:t>
            </a:r>
          </a:p>
          <a:p>
            <a:pPr>
              <a:spcAft>
                <a:spcPts val="12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Logged Columns: Records timestamp, active function, selected style variation, truncated input prompt, LLM response, and feedback rating.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737360"/>
            <a:ext cx="512064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737360"/>
            <a:ext cx="5120640" cy="7315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1168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Trebuchet MS"/>
              </a:defRPr>
            </a:pPr>
            <a:r>
              <a:t>Evaluation &amp; Prompt Iteration</a:t>
            </a:r>
          </a:p>
          <a:p>
            <a:pPr>
              <a:spcAft>
                <a:spcPts val="12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Aggregate Dashboard: The /feedback-summary route calculates approval ratings across the 9 prompts dynamically.</a:t>
            </a:r>
          </a:p>
          <a:p>
            <a:pPr>
              <a:spcAft>
                <a:spcPts val="12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Empirical Alignment: Visual statistics highlight which prompt styles meet target audience needs.</a:t>
            </a:r>
          </a:p>
          <a:p>
            <a:pPr>
              <a:spcAft>
                <a:spcPts val="1200"/>
              </a:spcAft>
              <a:defRPr sz="1400">
                <a:solidFill>
                  <a:srgbClr val="0F172A"/>
                </a:solidFill>
                <a:latin typeface="Calibri"/>
              </a:defRPr>
            </a:pPr>
            <a:r>
              <a:t>• Prompt Tuning cycle: Provides the datasets required for students to systematically refine system templates.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Arial"/>
              </a:defRPr>
            </a:pPr>
            <a:r>
              <a:t>04.B SUMMARY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Trebuchet MS"/>
              </a:defRPr>
            </a:pPr>
            <a:r>
              <a:t>Feedback Summary &amp; Analytics Dashboard Mockup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nalytic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342851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645920"/>
            <a:ext cx="42062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840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Trebuchet MS"/>
              </a:defRPr>
            </a:pPr>
            <a:r>
              <a:t>Analytics Panel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Approval Aggregates: Displays total user ratings, helpful count, and satisfaction rates.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Visual Metrics: A dynamic progress bar indicating satisfied vs dissatisfied ratios.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Sub-Breakdowns: Tabulates thumbs up/down results for all 9 prompt styles individually.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Real-time Updates: Refreshes dynamically as user feedback is logged to 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