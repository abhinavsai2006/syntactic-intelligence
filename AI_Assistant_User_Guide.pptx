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4F46E5"/>
                </a:solidFill>
                <a:latin typeface="Geist"/>
              </a:defRPr>
            </a:pPr>
            <a:r>
              <a:t>✦ Syntactic Intelligence</a:t>
            </a:r>
          </a:p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Inter"/>
              </a:defRPr>
            </a:pPr>
            <a:r>
              <a:t>Multi-Functional AI Assistant Web Application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Major Project: Prompt Engineering | Powered by Llama-3.1 NIM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Core Goal</a:t>
            </a:r>
          </a:p>
          <a:p>
            <a:pPr>
              <a:spcAft>
                <a:spcPts val="1400"/>
              </a:spcAft>
              <a:defRPr sz="1500"/>
            </a:pPr>
            <a:r>
              <a:t>Design and implement a web-based AI assistant demonstrating prompt design variance, output evaluation, and user feedback logs.</a:t>
            </a:r>
          </a:p>
          <a:p>
            <a:pPr>
              <a:defRPr b="1" sz="1800">
                <a:solidFill>
                  <a:srgbClr val="4F46E5"/>
                </a:solidFill>
              </a:defRPr>
            </a:pPr>
            <a:r>
              <a:t>Key Deliverables</a:t>
            </a:r>
          </a:p>
          <a:p>
            <a:pPr>
              <a:spcAft>
                <a:spcPts val="600"/>
              </a:spcAft>
              <a:defRPr sz="1400"/>
            </a:pPr>
            <a:r>
              <a:t>• Interactive UI: 3 core features styled cleanly in light-corporate layout without glassmorphism.</a:t>
            </a:r>
          </a:p>
          <a:p>
            <a:pPr>
              <a:spcAft>
                <a:spcPts val="600"/>
              </a:spcAft>
              <a:defRPr sz="1400"/>
            </a:pPr>
            <a:r>
              <a:t>• Prompt Variations: Dropdown variations for comparing specificity, length, and style behavior.</a:t>
            </a:r>
          </a:p>
          <a:p>
            <a:pPr>
              <a:spcAft>
                <a:spcPts val="600"/>
              </a:spcAft>
              <a:defRPr sz="1400"/>
            </a:pPr>
            <a:r>
              <a:t>• Feedback Loop: rating logger appending thumbs-up/down statistics to local CSV files.</a:t>
            </a:r>
          </a:p>
          <a:p>
            <a:pPr>
              <a:spcAft>
                <a:spcPts val="600"/>
              </a:spcAft>
              <a:defRPr sz="1400"/>
            </a:pPr>
            <a:r>
              <a:t>• Analytics Dashboard: Graphical performance aggregates viewable at /feedback-summary.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Framework Stack</a:t>
            </a:r>
          </a:p>
          <a:p>
            <a:pPr>
              <a:spcAft>
                <a:spcPts val="1200"/>
              </a:spcAft>
              <a:defRPr sz="1400"/>
            </a:pPr>
            <a:r>
              <a:t>• Backend Engine: Flask web application using Requests client to pipeline Llama-3.1 API calls.</a:t>
            </a:r>
          </a:p>
          <a:p>
            <a:pPr>
              <a:spcAft>
                <a:spcPts val="1200"/>
              </a:spcAft>
              <a:defRPr sz="1400"/>
            </a:pPr>
            <a:r>
              <a:t>• Secure Storage: Credentials loaded at runtime using python-dotenv environment isolation.</a:t>
            </a:r>
          </a:p>
          <a:p>
            <a:pPr>
              <a:spcAft>
                <a:spcPts val="1200"/>
              </a:spcAft>
              <a:defRPr sz="1400"/>
            </a:pPr>
            <a:r>
              <a:t>• Thread-Safe Logger: Multi-thread CSV logging with native Python thread-lock controllers.</a:t>
            </a:r>
          </a:p>
          <a:p>
            <a:pPr>
              <a:spcAft>
                <a:spcPts val="1200"/>
              </a:spcAft>
              <a:defRPr sz="1400"/>
            </a:pPr>
            <a:r>
              <a:t>• Asynchronous Frontend: Vanilla JS AJAX fetch client offering smooth real-time markdown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1. Answer Questions (Q&amp;A)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500" i="1"/>
            </a:pPr>
            <a:r>
              <a:t>System Context: Expert factual Q&amp;A assistant providing accurate, clear solutions.</a:t>
            </a:r>
          </a:p>
          <a:p>
            <a:pPr>
              <a:spcAft>
                <a:spcPts val="600"/>
              </a:spcAft>
              <a:defRPr b="1" sz="1800">
                <a:solidFill>
                  <a:srgbClr val="4F46E5"/>
                </a:solidFill>
              </a:defRPr>
            </a:pPr>
            <a:r>
              <a:t>Prompt Variations Design</a:t>
            </a:r>
          </a:p>
          <a:p>
            <a:pPr>
              <a:defRPr b="1" sz="1400"/>
            </a:pPr>
            <a:r>
              <a:t>• Style: Short Factual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"Answer briefly and factually: {input}" — Purpose: Focuses on hyper-concise definitions, bypassing narrative context.</a:t>
            </a:r>
          </a:p>
          <a:p>
            <a:pPr>
              <a:defRPr b="1" sz="1400"/>
            </a:pPr>
            <a:r>
              <a:t>• Style: Detailed Explainer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"Explain in detail with context and examples: {input}" — Purpose: Guides the LLM to detail technical frameworks and use cases.</a:t>
            </a:r>
          </a:p>
          <a:p>
            <a:pPr>
              <a:defRPr b="1" sz="1400"/>
            </a:pPr>
            <a:r>
              <a:t>• Style: Bullet-Point Facts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"Give me 3 concise facts about: {input}" — Purpose: Dictates exact structure and count constraint for fast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2. Summarize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500" i="1"/>
            </a:pPr>
            <a:r>
              <a:t>System Context: Expert text summarizer preserving core concepts and nuance.</a:t>
            </a:r>
          </a:p>
          <a:p>
            <a:pPr>
              <a:spcAft>
                <a:spcPts val="600"/>
              </a:spcAft>
              <a:defRPr b="1" sz="1800">
                <a:solidFill>
                  <a:srgbClr val="4F46E5"/>
                </a:solidFill>
              </a:defRPr>
            </a:pPr>
            <a:r>
              <a:t>Prompt Variations Design</a:t>
            </a:r>
          </a:p>
          <a:p>
            <a:pPr>
              <a:defRPr b="1" sz="1400"/>
            </a:pPr>
            <a:r>
              <a:t>• Style: One-Paragraph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"Summarize the following text in one paragraph: {input}" — Purpose: Tests aggregation into a single cohesive reading section.</a:t>
            </a:r>
          </a:p>
          <a:p>
            <a:pPr>
              <a:defRPr b="1" sz="1400"/>
            </a:pPr>
            <a:r>
              <a:t>• Style: Key Points List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"Extract the main points of this text as a bulleted list: {input}" — Purpose: Directs structured list outputs for rapid concept mapping.</a:t>
            </a:r>
          </a:p>
          <a:p>
            <a:pPr>
              <a:defRPr b="1" sz="1400"/>
            </a:pPr>
            <a:r>
              <a:t>• Style: Executive Brief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"Provide a brief executive overview (2-3 sentences) of this document: {input}" — Purpose: Generates high-level summaries suitable for executives.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3. Generate Creative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400"/>
              </a:spcAft>
              <a:defRPr sz="1500" i="1"/>
            </a:pPr>
            <a:r>
              <a:t>System Context: Creative assistant with rich imagery and engaging narratives.</a:t>
            </a:r>
          </a:p>
          <a:p>
            <a:pPr>
              <a:spcAft>
                <a:spcPts val="600"/>
              </a:spcAft>
              <a:defRPr b="1" sz="1800">
                <a:solidFill>
                  <a:srgbClr val="4F46E5"/>
                </a:solidFill>
              </a:defRPr>
            </a:pPr>
            <a:r>
              <a:t>Prompt Variations Design</a:t>
            </a:r>
          </a:p>
          <a:p>
            <a:pPr>
              <a:defRPr b="1" sz="1400"/>
            </a:pPr>
            <a:r>
              <a:t>• Style: Short Story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"Write a short story (under 300 words) about: {input}" — Purpose: Storytelling with strict constraint parameters.</a:t>
            </a:r>
          </a:p>
          <a:p>
            <a:pPr>
              <a:defRPr b="1" sz="1400"/>
            </a:pPr>
            <a:r>
              <a:t>• Style: Poem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"Write a poem in a creative tone about: {input}" — Purpose: Evaluates artistic rendering of user prompts.</a:t>
            </a:r>
          </a:p>
          <a:p>
            <a:pPr>
              <a:defRPr b="1" sz="1400"/>
            </a:pPr>
            <a:r>
              <a:t>• Style: Idea Generator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   Prompt: "Generate 3 creative concept ideas for a story/essay about: {input}" — Purpose: Concept design tool for rapid prototyping and brainstorming.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172A"/>
                </a:solidFill>
                <a:latin typeface="Geist"/>
              </a:defRPr>
            </a:pPr>
            <a:r>
              <a:t>Feedback Loop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>
                <a:solidFill>
                  <a:srgbClr val="4F46E5"/>
                </a:solidFill>
              </a:defRPr>
            </a:pPr>
            <a:r>
              <a:t>Feedback Architecture</a:t>
            </a:r>
          </a:p>
          <a:p>
            <a:pPr>
              <a:spcAft>
                <a:spcPts val="1000"/>
              </a:spcAft>
              <a:defRPr sz="1400"/>
            </a:pPr>
            <a:r>
              <a:t>• Data Collection: rating inputs integrated directly below generated markdown outputs.</a:t>
            </a:r>
          </a:p>
          <a:p>
            <a:pPr>
              <a:spcAft>
                <a:spcPts val="1000"/>
              </a:spcAft>
              <a:defRPr sz="1400"/>
            </a:pPr>
            <a:r>
              <a:t>• Logged Elements: records timestamp, selected function, style template, truncated input, LLM response, and feedback rating.</a:t>
            </a:r>
          </a:p>
          <a:p>
            <a:pPr>
              <a:spcAft>
                <a:spcPts val="1000"/>
              </a:spcAft>
              <a:defRPr sz="1400"/>
            </a:pPr>
            <a:r>
              <a:t>• Storage Mechanism: stored locally in feedback_log.csv using thread-safe locking primitives to avoid read-write collisions.</a:t>
            </a:r>
          </a:p>
          <a:p>
            <a:pPr>
              <a:spcAft>
                <a:spcPts val="1000"/>
              </a:spcAft>
              <a:defRPr sz="1400"/>
            </a:pPr>
            <a:r>
              <a:t>• Performance Evaluation: analytics view (/feedback-summary) highlights satisfaction rate across prompt styles to guide prompt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