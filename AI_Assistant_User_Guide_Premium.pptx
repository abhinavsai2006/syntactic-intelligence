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011680"/>
            <a:ext cx="137160" cy="292608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1920240"/>
            <a:ext cx="96012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5400" b="1">
                <a:solidFill>
                  <a:srgbClr val="FFFFFF"/>
                </a:solidFill>
                <a:latin typeface="Trebuchet MS"/>
              </a:defRPr>
            </a:pPr>
            <a:r>
              <a:t>Syntactic Intelligence</a:t>
            </a:r>
          </a:p>
          <a:p>
            <a:pPr>
              <a:spcAft>
                <a:spcPts val="2800"/>
              </a:spcAft>
              <a:defRPr sz="2200">
                <a:solidFill>
                  <a:srgbClr val="E2E8F0"/>
                </a:solidFill>
                <a:latin typeface="Arial"/>
              </a:defRPr>
            </a:pPr>
            <a:r>
              <a:t>Multi-Functional AI Assistant Web Application</a:t>
            </a:r>
          </a:p>
          <a:p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Major Project: Prompt Engineering | Powered by Llama-3.1 NIM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9728" cy="73152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6576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rebuchet MS"/>
              </a:defRPr>
            </a:pPr>
            <a:r>
              <a:t>Project Overview &amp;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4F46E5"/>
                </a:solidFill>
                <a:latin typeface="Trebuchet MS"/>
              </a:defRPr>
            </a:pPr>
            <a:r>
              <a:t>Core Objective</a:t>
            </a:r>
          </a:p>
          <a:p>
            <a:pPr>
              <a:lnSpc>
                <a:spcPct val="130000"/>
              </a:lnSpc>
              <a:defRPr sz="1500">
                <a:solidFill>
                  <a:srgbClr val="0F172A"/>
                </a:solidFill>
                <a:latin typeface="Calibri"/>
              </a:defRPr>
            </a:pPr>
            <a:r>
              <a:t>Design and implement a basic AI Assistant that can perform a variety of tasks based on user prompts. This project showcases prompt engineering skills and details how different prompts drive various responses from an AI model.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4F46E5"/>
                </a:solidFill>
                <a:latin typeface="Trebuchet MS"/>
              </a:defRPr>
            </a:pPr>
            <a:r>
              <a:t>Key Deliverables</a:t>
            </a:r>
          </a:p>
          <a:p>
            <a:pPr>
              <a:spcAft>
                <a:spcPts val="1200"/>
              </a:spcAft>
              <a:defRPr sz="1400">
                <a:solidFill>
                  <a:srgbClr val="0F172A"/>
                </a:solidFill>
                <a:latin typeface="Calibri"/>
              </a:defRPr>
            </a:pPr>
            <a:r>
              <a:t>• Interactive UI: 3 features styled in a light corporate design without glassmorphism.</a:t>
            </a:r>
          </a:p>
          <a:p>
            <a:pPr>
              <a:spcAft>
                <a:spcPts val="1200"/>
              </a:spcAft>
              <a:defRPr sz="1400">
                <a:solidFill>
                  <a:srgbClr val="0F172A"/>
                </a:solidFill>
                <a:latin typeface="Calibri"/>
              </a:defRPr>
            </a:pPr>
            <a:r>
              <a:t>• Prompt Design: Dropdown choices to compare length, tone, and specificity effects.</a:t>
            </a:r>
          </a:p>
          <a:p>
            <a:pPr>
              <a:spcAft>
                <a:spcPts val="1200"/>
              </a:spcAft>
              <a:defRPr sz="1400">
                <a:solidFill>
                  <a:srgbClr val="0F172A"/>
                </a:solidFill>
                <a:latin typeface="Calibri"/>
              </a:defRPr>
            </a:pPr>
            <a:r>
              <a:t>• Feedback Loop: Logs user helpfulness ratings to local CSV.</a:t>
            </a:r>
          </a:p>
          <a:p>
            <a:pPr>
              <a:spcAft>
                <a:spcPts val="1200"/>
              </a:spcAft>
              <a:defRPr sz="1400">
                <a:solidFill>
                  <a:srgbClr val="0F172A"/>
                </a:solidFill>
                <a:latin typeface="Calibri"/>
              </a:defRPr>
            </a:pPr>
            <a:r>
              <a:t>• Analytics dashboard to display overall approval rating stats.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9728" cy="73152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6576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rebuchet MS"/>
              </a:defRPr>
            </a:pPr>
            <a:r>
              <a:t>System Architecture &amp;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3832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4F46E5"/>
                </a:solidFill>
                <a:latin typeface="Trebuchet MS"/>
              </a:defRPr>
            </a:pPr>
            <a:r>
              <a:t>1. Backend Engine</a:t>
            </a:r>
          </a:p>
          <a:p>
            <a:pPr>
              <a:spcAft>
                <a:spcPts val="1400"/>
              </a:spcAft>
              <a:defRPr sz="1300" b="1">
                <a:solidFill>
                  <a:srgbClr val="64748B"/>
                </a:solidFill>
                <a:latin typeface="Arial"/>
              </a:defRPr>
            </a:pPr>
            <a:r>
              <a:t>Flask Web Server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Handles routing: / (home), /generate (API calling), and /feedback (CSV logging).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Environment configuration (.env) for key safety.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645920"/>
            <a:ext cx="33832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4F46E5"/>
                </a:solidFill>
                <a:latin typeface="Trebuchet MS"/>
              </a:defRPr>
            </a:pPr>
            <a:r>
              <a:t>2. AI API Pipeline</a:t>
            </a:r>
          </a:p>
          <a:p>
            <a:pPr>
              <a:spcAft>
                <a:spcPts val="1400"/>
              </a:spcAft>
              <a:defRPr sz="1300" b="1">
                <a:solidFill>
                  <a:srgbClr val="64748B"/>
                </a:solidFill>
                <a:latin typeface="Arial"/>
              </a:defRPr>
            </a:pPr>
            <a:r>
              <a:t>NVIDIA NIM Integration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Leverages the meta/llama-3.1-8b-instruct LLM model.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Custom system prompts per task for contextual alignment.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3832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4F46E5"/>
                </a:solidFill>
                <a:latin typeface="Trebuchet MS"/>
              </a:defRPr>
            </a:pPr>
            <a:r>
              <a:t>3. Storage &amp; Logger</a:t>
            </a:r>
          </a:p>
          <a:p>
            <a:pPr>
              <a:spcAft>
                <a:spcPts val="1400"/>
              </a:spcAft>
              <a:defRPr sz="1300" b="1">
                <a:solidFill>
                  <a:srgbClr val="64748B"/>
                </a:solidFill>
                <a:latin typeface="Arial"/>
              </a:defRPr>
            </a:pPr>
            <a:r>
              <a:t>CSV Feedback Loop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Thread-locked CSV write protocols to prevent collision.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Aggregates stats per function/style at /feedback-summary.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9728" cy="73152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6576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rebuchet MS"/>
              </a:defRPr>
            </a:pPr>
            <a:r>
              <a:t>1. Function: Answer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64748B"/>
                </a:solidFill>
                <a:latin typeface="Calibri"/>
              </a:defRPr>
            </a:pPr>
            <a:r>
              <a:t>System Context: Expert factual Q&amp;A assistant specialized in clear, well-structured definitions.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38328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4F46E5"/>
                </a:solidFill>
                <a:latin typeface="Trebuchet MS"/>
              </a:defRPr>
            </a:pPr>
            <a:r>
              <a:t>Short Factual</a:t>
            </a:r>
          </a:p>
          <a:p>
            <a:pPr>
              <a:defRPr sz="1000" b="1">
                <a:solidFill>
                  <a:srgbClr val="64748B"/>
                </a:solidFill>
                <a:latin typeface="Arial"/>
              </a:defRPr>
            </a:pPr>
            <a:r>
              <a:t>PROMPT FORMAT: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"Answer briefly and factually: {input}"</a:t>
            </a:r>
          </a:p>
          <a:p>
            <a:pPr>
              <a:defRPr sz="1000" b="1">
                <a:solidFill>
                  <a:srgbClr val="64748B"/>
                </a:solidFill>
                <a:latin typeface="Arial"/>
              </a:defRPr>
            </a:pPr>
            <a:r>
              <a:t>DESIGN INTENT: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Guarantees a concise definition, directly bypassing lengthy introductory paragraphs or preambles.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828800"/>
            <a:ext cx="338328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011680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4F46E5"/>
                </a:solidFill>
                <a:latin typeface="Trebuchet MS"/>
              </a:defRPr>
            </a:pPr>
            <a:r>
              <a:t>Detailed Explainer</a:t>
            </a:r>
          </a:p>
          <a:p>
            <a:pPr>
              <a:defRPr sz="1000" b="1">
                <a:solidFill>
                  <a:srgbClr val="64748B"/>
                </a:solidFill>
                <a:latin typeface="Arial"/>
              </a:defRPr>
            </a:pPr>
            <a:r>
              <a:t>PROMPT FORMAT: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"Explain in detail with context and examples: {input}"</a:t>
            </a:r>
          </a:p>
          <a:p>
            <a:pPr>
              <a:defRPr sz="1000" b="1">
                <a:solidFill>
                  <a:srgbClr val="64748B"/>
                </a:solidFill>
                <a:latin typeface="Arial"/>
              </a:defRPr>
            </a:pPr>
            <a:r>
              <a:t>DESIGN INTENT: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Instructs Llama-3.1 to generate full technical context, including practical applications and real-world examples.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828800"/>
            <a:ext cx="338328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2011680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4F46E5"/>
                </a:solidFill>
                <a:latin typeface="Trebuchet MS"/>
              </a:defRPr>
            </a:pPr>
            <a:r>
              <a:t>Bullet-Point Facts</a:t>
            </a:r>
          </a:p>
          <a:p>
            <a:pPr>
              <a:defRPr sz="1000" b="1">
                <a:solidFill>
                  <a:srgbClr val="64748B"/>
                </a:solidFill>
                <a:latin typeface="Arial"/>
              </a:defRPr>
            </a:pPr>
            <a:r>
              <a:t>PROMPT FORMAT: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"Give me 3 concise facts about: {input}"</a:t>
            </a:r>
          </a:p>
          <a:p>
            <a:pPr>
              <a:defRPr sz="1000" b="1">
                <a:solidFill>
                  <a:srgbClr val="64748B"/>
                </a:solidFill>
                <a:latin typeface="Arial"/>
              </a:defRPr>
            </a:pPr>
            <a:r>
              <a:t>DESIGN INTENT: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Applies a strict layout constraint, forcing the model to select and present only the top three most important facts.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9728" cy="73152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6576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rebuchet MS"/>
              </a:defRPr>
            </a:pPr>
            <a:r>
              <a:t>2. Function: Summarize 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64748B"/>
                </a:solidFill>
                <a:latin typeface="Calibri"/>
              </a:defRPr>
            </a:pPr>
            <a:r>
              <a:t>System Context: Expert text summarizer distilling key concepts while preserving crucial nuance.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38328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4F46E5"/>
                </a:solidFill>
                <a:latin typeface="Trebuchet MS"/>
              </a:defRPr>
            </a:pPr>
            <a:r>
              <a:t>One-Paragraph</a:t>
            </a:r>
          </a:p>
          <a:p>
            <a:pPr>
              <a:defRPr sz="1000" b="1">
                <a:solidFill>
                  <a:srgbClr val="64748B"/>
                </a:solidFill>
                <a:latin typeface="Arial"/>
              </a:defRPr>
            </a:pPr>
            <a:r>
              <a:t>PROMPT FORMAT: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"Summarize the following text in one paragraph: {input}"</a:t>
            </a:r>
          </a:p>
          <a:p>
            <a:pPr>
              <a:defRPr sz="1000" b="1">
                <a:solidFill>
                  <a:srgbClr val="64748B"/>
                </a:solidFill>
                <a:latin typeface="Arial"/>
              </a:defRPr>
            </a:pPr>
            <a:r>
              <a:t>DESIGN INTENT: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Aggregates complex articles into a single cohesive paragraph, ideal for quick overviews.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828800"/>
            <a:ext cx="338328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011680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4F46E5"/>
                </a:solidFill>
                <a:latin typeface="Trebuchet MS"/>
              </a:defRPr>
            </a:pPr>
            <a:r>
              <a:t>Key Points List</a:t>
            </a:r>
          </a:p>
          <a:p>
            <a:pPr>
              <a:defRPr sz="1000" b="1">
                <a:solidFill>
                  <a:srgbClr val="64748B"/>
                </a:solidFill>
                <a:latin typeface="Arial"/>
              </a:defRPr>
            </a:pPr>
            <a:r>
              <a:t>PROMPT FORMAT: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"Extract the main points of this text as a bulleted list: {input}"</a:t>
            </a:r>
          </a:p>
          <a:p>
            <a:pPr>
              <a:defRPr sz="1000" b="1">
                <a:solidFill>
                  <a:srgbClr val="64748B"/>
                </a:solidFill>
                <a:latin typeface="Arial"/>
              </a:defRPr>
            </a:pPr>
            <a:r>
              <a:t>DESIGN INTENT: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Generates high-contrast bulleted lists for immediate scannability and structural clarity.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828800"/>
            <a:ext cx="338328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2011680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4F46E5"/>
                </a:solidFill>
                <a:latin typeface="Trebuchet MS"/>
              </a:defRPr>
            </a:pPr>
            <a:r>
              <a:t>Executive Brief</a:t>
            </a:r>
          </a:p>
          <a:p>
            <a:pPr>
              <a:defRPr sz="1000" b="1">
                <a:solidFill>
                  <a:srgbClr val="64748B"/>
                </a:solidFill>
                <a:latin typeface="Arial"/>
              </a:defRPr>
            </a:pPr>
            <a:r>
              <a:t>PROMPT FORMAT: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"Provide a brief executive overview (2-3 sentences) of this document: {input}"</a:t>
            </a:r>
          </a:p>
          <a:p>
            <a:pPr>
              <a:defRPr sz="1000" b="1">
                <a:solidFill>
                  <a:srgbClr val="64748B"/>
                </a:solidFill>
                <a:latin typeface="Arial"/>
              </a:defRPr>
            </a:pPr>
            <a:r>
              <a:t>DESIGN INTENT: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Returns extreme summary distillation, ideal for professional executive briefings.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9728" cy="73152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6576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rebuchet MS"/>
              </a:defRPr>
            </a:pPr>
            <a:r>
              <a:t>3. Function: Generate Creative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64748B"/>
                </a:solidFill>
                <a:latin typeface="Calibri"/>
              </a:defRPr>
            </a:pPr>
            <a:r>
              <a:t>System Context: Creative writing assistant with a focus on vivid descriptions and narrative structures.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38328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4F46E5"/>
                </a:solidFill>
                <a:latin typeface="Trebuchet MS"/>
              </a:defRPr>
            </a:pPr>
            <a:r>
              <a:t>Short Story</a:t>
            </a:r>
          </a:p>
          <a:p>
            <a:pPr>
              <a:defRPr sz="1000" b="1">
                <a:solidFill>
                  <a:srgbClr val="64748B"/>
                </a:solidFill>
                <a:latin typeface="Arial"/>
              </a:defRPr>
            </a:pPr>
            <a:r>
              <a:t>PROMPT FORMAT: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"Write a short story (under 300 words) about: {input}"</a:t>
            </a:r>
          </a:p>
          <a:p>
            <a:pPr>
              <a:defRPr sz="1000" b="1">
                <a:solidFill>
                  <a:srgbClr val="64748B"/>
                </a:solidFill>
                <a:latin typeface="Arial"/>
              </a:defRPr>
            </a:pPr>
            <a:r>
              <a:t>DESIGN INTENT: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Requests engaging narrative development while enforcing a strict word limit constraint.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828800"/>
            <a:ext cx="338328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011680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4F46E5"/>
                </a:solidFill>
                <a:latin typeface="Trebuchet MS"/>
              </a:defRPr>
            </a:pPr>
            <a:r>
              <a:t>Poem</a:t>
            </a:r>
          </a:p>
          <a:p>
            <a:pPr>
              <a:defRPr sz="1000" b="1">
                <a:solidFill>
                  <a:srgbClr val="64748B"/>
                </a:solidFill>
                <a:latin typeface="Arial"/>
              </a:defRPr>
            </a:pPr>
            <a:r>
              <a:t>PROMPT FORMAT: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"Write a poem in a creative tone about: {input}"</a:t>
            </a:r>
          </a:p>
          <a:p>
            <a:pPr>
              <a:defRPr sz="1000" b="1">
                <a:solidFill>
                  <a:srgbClr val="64748B"/>
                </a:solidFill>
                <a:latin typeface="Arial"/>
              </a:defRPr>
            </a:pPr>
            <a:r>
              <a:t>DESIGN INTENT: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Directs the AI to focus on rhyme, rhythm, and artistic prose styling based on the user's topic.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828800"/>
            <a:ext cx="338328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2011680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4F46E5"/>
                </a:solidFill>
                <a:latin typeface="Trebuchet MS"/>
              </a:defRPr>
            </a:pPr>
            <a:r>
              <a:t>Idea Generator</a:t>
            </a:r>
          </a:p>
          <a:p>
            <a:pPr>
              <a:defRPr sz="1000" b="1">
                <a:solidFill>
                  <a:srgbClr val="64748B"/>
                </a:solidFill>
                <a:latin typeface="Arial"/>
              </a:defRPr>
            </a:pPr>
            <a:r>
              <a:t>PROMPT FORMAT: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"Generate 3 creative concept ideas for a story/essay about: {input}"</a:t>
            </a:r>
          </a:p>
          <a:p>
            <a:pPr>
              <a:defRPr sz="1000" b="1">
                <a:solidFill>
                  <a:srgbClr val="64748B"/>
                </a:solidFill>
                <a:latin typeface="Arial"/>
              </a:defRPr>
            </a:pPr>
            <a:r>
              <a:t>DESIGN INTENT:</a:t>
            </a:r>
          </a:p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Serves as an ideation brainstormer, providing structured concept outlines for further writing.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9728" cy="73152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6576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Trebuchet MS"/>
              </a:defRPr>
            </a:pPr>
            <a:r>
              <a:t>Feedback Loop &amp; Prompt Refinement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4F46E5"/>
                </a:solidFill>
                <a:latin typeface="Trebuchet MS"/>
              </a:defRPr>
            </a:pPr>
            <a:r>
              <a:t>Rating Capture Mechanism</a:t>
            </a:r>
          </a:p>
          <a:p>
            <a:pPr>
              <a:spcAft>
                <a:spcPts val="1200"/>
              </a:spcAft>
              <a:defRPr sz="1400">
                <a:solidFill>
                  <a:srgbClr val="0F172A"/>
                </a:solidFill>
                <a:latin typeface="Calibri"/>
              </a:defRPr>
            </a:pPr>
            <a:r>
              <a:t>• Immediate evaluation triggers: Rating buttons (👍 Helpful / 👎 Not Helpful) appear directly below each AI response.</a:t>
            </a:r>
          </a:p>
          <a:p>
            <a:pPr>
              <a:spcAft>
                <a:spcPts val="1200"/>
              </a:spcAft>
              <a:defRPr sz="1400">
                <a:solidFill>
                  <a:srgbClr val="0F172A"/>
                </a:solidFill>
                <a:latin typeface="Calibri"/>
              </a:defRPr>
            </a:pPr>
            <a:r>
              <a:t>• Asynchronous submission: Handled via AJAX POST fetch calls, avoiding full-page reloads.</a:t>
            </a:r>
          </a:p>
          <a:p>
            <a:pPr>
              <a:spcAft>
                <a:spcPts val="1200"/>
              </a:spcAft>
              <a:defRPr sz="1400">
                <a:solidFill>
                  <a:srgbClr val="0F172A"/>
                </a:solidFill>
                <a:latin typeface="Calibri"/>
              </a:defRPr>
            </a:pPr>
            <a:r>
              <a:t>• CSV Database storage: Automatically creates and appends logs to feedback_log.csv in the local workspace directory.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4F46E5"/>
                </a:solidFill>
                <a:latin typeface="Trebuchet MS"/>
              </a:defRPr>
            </a:pPr>
            <a:r>
              <a:t>Refinement &amp; Prompt Iteration</a:t>
            </a:r>
          </a:p>
          <a:p>
            <a:pPr>
              <a:spcAft>
                <a:spcPts val="1200"/>
              </a:spcAft>
              <a:defRPr sz="1400">
                <a:solidFill>
                  <a:srgbClr val="0F172A"/>
                </a:solidFill>
                <a:latin typeface="Calibri"/>
              </a:defRPr>
            </a:pPr>
            <a:r>
              <a:t>• Analytics Dashboard: The /feedback-summary route aggregates total response ratings, calculating absolute satisfaction rates.</a:t>
            </a:r>
          </a:p>
          <a:p>
            <a:pPr>
              <a:spcAft>
                <a:spcPts val="1200"/>
              </a:spcAft>
              <a:defRPr sz="1400">
                <a:solidFill>
                  <a:srgbClr val="0F172A"/>
                </a:solidFill>
                <a:latin typeface="Calibri"/>
              </a:defRPr>
            </a:pPr>
            <a:r>
              <a:t>• Prompt tuning data: Highlights exactly which variations (e.g., Short Factual vs. Explainer) satisfy user expectations best.</a:t>
            </a:r>
          </a:p>
          <a:p>
            <a:pPr>
              <a:spcAft>
                <a:spcPts val="1200"/>
              </a:spcAft>
              <a:defRPr sz="1400">
                <a:solidFill>
                  <a:srgbClr val="0F172A"/>
                </a:solidFill>
                <a:latin typeface="Calibri"/>
              </a:defRPr>
            </a:pPr>
            <a:r>
              <a:t>• System prompt tuning: Enables developers to refine system contexts directly in app.py using empirical feedback logs.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